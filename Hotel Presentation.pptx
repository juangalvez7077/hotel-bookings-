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3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Rate %</c:v>
                </c:pt>
              </c:strCache>
            </c:strRef>
          </c:tx>
          <c:spPr>
            <a:solidFill>
              <a:srgbClr val="E84A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540-4032-8006-1B436AC24D4D}"/>
              </c:ext>
            </c:extLst>
          </c:dPt>
          <c:dPt>
            <c:idx val="1"/>
            <c:invertIfNegative val="0"/>
            <c:bubble3D val="0"/>
            <c:spPr>
              <a:solidFill>
                <a:srgbClr val="447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540-4032-8006-1B436AC24D4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City Hotel</c:v>
                </c:pt>
                <c:pt idx="1">
                  <c:v>Resort Hotel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30.1</c:v>
                </c:pt>
                <c:pt idx="1">
                  <c:v>23.46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40-4032-8006-1B436AC24D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DC3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b"/>
        <c:majorGridlines>
          <c:spPr>
            <a:ln w="6350" cap="flat">
              <a:solidFill>
                <a:srgbClr val="2E5A9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DC3E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F5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7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50F-4086-93A5-1B27F370EE6C}"/>
              </c:ext>
            </c:extLst>
          </c:dPt>
          <c:dPt>
            <c:idx val="1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50F-4086-93A5-1B27F370EE6C}"/>
              </c:ext>
            </c:extLst>
          </c:dPt>
          <c:dPt>
            <c:idx val="2"/>
            <c:bubble3D val="0"/>
            <c:spPr>
              <a:solidFill>
                <a:srgbClr val="E84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50F-4086-93A5-1B27F370EE6C}"/>
              </c:ext>
            </c:extLst>
          </c:dPt>
          <c:dPt>
            <c:idx val="3"/>
            <c:bubble3D val="0"/>
            <c:spPr>
              <a:solidFill>
                <a:srgbClr val="2C5F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50F-4086-93A5-1B27F370EE6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50F-4086-93A5-1B27F370EE6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50F-4086-93A5-1B27F370EE6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50F-4086-93A5-1B27F370EE6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50F-4086-93A5-1B27F370EE6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E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Medium Risk (43.8%)</c:v>
                </c:pt>
                <c:pt idx="1">
                  <c:v>High Risk (41.9%)</c:v>
                </c:pt>
                <c:pt idx="2">
                  <c:v>Very High Risk (14.0%)</c:v>
                </c:pt>
                <c:pt idx="3">
                  <c:v>Low Risk (0.3%)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38147</c:v>
                </c:pt>
                <c:pt idx="1">
                  <c:v>36517</c:v>
                </c:pt>
                <c:pt idx="2">
                  <c:v>12243</c:v>
                </c:pt>
                <c:pt idx="3">
                  <c:v>237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50F-4086-93A5-1B27F370EE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9DC3E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2F5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125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2E5A9C">
              <a:alpha val="3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6858000" y="182880"/>
            <a:ext cx="2743200" cy="2743200"/>
          </a:xfrm>
          <a:prstGeom prst="ellipse">
            <a:avLst/>
          </a:prstGeom>
          <a:solidFill>
            <a:srgbClr val="4472C4">
              <a:alpha val="4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PREVENTION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Business Intelligence Solution for Hospitality Revenue Management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493008"/>
            <a:ext cx="6858000" cy="1829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Evangelista  ·  Juan Gálvez  ·  Galo Prensa  ·  Juan Lantero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Intelligence  ·  UFV Madrid  ·  Academic Year 2025–2026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617720"/>
            <a:ext cx="3200400" cy="320040"/>
          </a:xfrm>
          <a:prstGeom prst="rect">
            <a:avLst/>
          </a:prstGeom>
          <a:solidFill>
            <a:srgbClr val="2E5A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 — Hotel Booking Demand (CC0)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260604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2606040" cy="54864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75488" y="1920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Gap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377440"/>
            <a:ext cx="23774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exists to estimate, at booking time, the probability that a reservation will be cancelled. Revenue managers rely on historical averages - not individual-level risk signals.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207008"/>
            <a:ext cx="260604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200400" y="1207008"/>
            <a:ext cx="2606040" cy="54864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0" y="13258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10128" y="1920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Gap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377440"/>
            <a:ext cx="23774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Decision-makers cannot systematically distinguish high-risk from low-risk booking profiles across channels, market segments, and customer types.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207008"/>
            <a:ext cx="260604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035040" y="1207008"/>
            <a:ext cx="2606040" cy="54864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035040" y="13258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44768" y="1920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 Gap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44768" y="2377440"/>
            <a:ext cx="23774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risk-scoring framework, preventive actions cannot be directed at the specific bookings where they would generate the highest return.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holding rich historical reservation data — the gap is analytical, not informational.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SCALE OF 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119,390 raw reservation records  ·  Two Portuguese hotels  ·  July 2015 – August 2017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1572768" cy="1508760"/>
          </a:xfrm>
          <a:prstGeom prst="rect">
            <a:avLst/>
          </a:prstGeom>
          <a:solidFill>
            <a:srgbClr val="2E5A9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56032" y="1060704"/>
            <a:ext cx="1572768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87,144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1862633"/>
            <a:ext cx="1572768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Reservations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119,390 raw)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93392" y="987552"/>
            <a:ext cx="1572768" cy="1508760"/>
          </a:xfrm>
          <a:prstGeom prst="rect">
            <a:avLst/>
          </a:prstGeom>
          <a:solidFill>
            <a:srgbClr val="E84A5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993392" y="1060704"/>
            <a:ext cx="1572768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27.52%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993392" y="1862633"/>
            <a:ext cx="1572768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(37.04% raw)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30752" y="987552"/>
            <a:ext cx="1572768" cy="1508760"/>
          </a:xfrm>
          <a:prstGeom prst="rect">
            <a:avLst/>
          </a:prstGeom>
          <a:solidFill>
            <a:srgbClr val="B8504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730752" y="1060704"/>
            <a:ext cx="1572768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€11.4M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30752" y="1862633"/>
            <a:ext cx="1572768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Cancellations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68112" y="987552"/>
            <a:ext cx="1572768" cy="1508760"/>
          </a:xfrm>
          <a:prstGeom prst="rect">
            <a:avLst/>
          </a:prstGeom>
          <a:solidFill>
            <a:srgbClr val="2C5F2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468112" y="1060704"/>
            <a:ext cx="1572768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€106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68112" y="1862633"/>
            <a:ext cx="1572768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Rate (ADR)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05472" y="987552"/>
            <a:ext cx="1572768" cy="1508760"/>
          </a:xfrm>
          <a:prstGeom prst="rect">
            <a:avLst/>
          </a:prstGeom>
          <a:solidFill>
            <a:srgbClr val="5B4A8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205472" y="1060704"/>
            <a:ext cx="1572768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days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05472" y="1862633"/>
            <a:ext cx="1572768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697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by Hotel Type</a:t>
            </a:r>
            <a:endParaRPr lang="en-US" sz="13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74320" y="3035808"/>
          <a:ext cx="411480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4663440" y="2697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Risk Distribution</a:t>
            </a:r>
            <a:endParaRPr lang="en-US" sz="1300" dirty="0"/>
          </a:p>
        </p:txBody>
      </p:sp>
      <p:graphicFrame>
        <p:nvGraphicFramePr>
          <p:cNvPr id="23" name="Chart 1"/>
          <p:cNvGraphicFramePr/>
          <p:nvPr/>
        </p:nvGraphicFramePr>
        <p:xfrm>
          <a:off x="4572000" y="3035808"/>
          <a:ext cx="42976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 20"/>
          <p:cNvSpPr/>
          <p:nvPr/>
        </p:nvSpPr>
        <p:spPr>
          <a:xfrm>
            <a:off x="365760" y="48920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55.9% of all validated bookings are classified as High or Very High Risk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&amp; ETL 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to clean, analysis-ready dataset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1508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508760" cy="402336"/>
          </a:xfrm>
          <a:prstGeom prst="rect">
            <a:avLst/>
          </a:prstGeom>
          <a:solidFill>
            <a:srgbClr val="2E5A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28600" y="11155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" y="1984248"/>
            <a:ext cx="137160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119,390 rows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variables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CSV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09928" y="2148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965960" y="1115568"/>
            <a:ext cx="1508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1965960" y="1115568"/>
            <a:ext cx="1508760" cy="402336"/>
          </a:xfrm>
          <a:prstGeom prst="rect">
            <a:avLst/>
          </a:prstGeom>
          <a:solidFill>
            <a:srgbClr val="2E5A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965960" y="11155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15544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Audit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39112" y="1984248"/>
            <a:ext cx="137160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31,994 duplicates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(26.8% of raw)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47288" y="2148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03320" y="1115568"/>
            <a:ext cx="1508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703320" y="1115568"/>
            <a:ext cx="1508760" cy="402336"/>
          </a:xfrm>
          <a:prstGeom prst="rect">
            <a:avLst/>
          </a:prstGeom>
          <a:solidFill>
            <a:srgbClr val="2E5A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703320" y="11155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49040" y="15544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76472" y="1984248"/>
            <a:ext cx="137160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nulls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invalids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84648" y="2148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40680" y="1115568"/>
            <a:ext cx="1508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5440680" y="1115568"/>
            <a:ext cx="1508760" cy="402336"/>
          </a:xfrm>
          <a:prstGeom prst="rect">
            <a:avLst/>
          </a:prstGeom>
          <a:solidFill>
            <a:srgbClr val="2E5A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440680" y="11155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15544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137160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new features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(0–100)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metrics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22008" y="2148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178040" y="1115568"/>
            <a:ext cx="1508760" cy="2011680"/>
          </a:xfrm>
          <a:prstGeom prst="rect">
            <a:avLst/>
          </a:prstGeom>
          <a:solidFill>
            <a:srgbClr val="1F386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7178040" y="1115568"/>
            <a:ext cx="1508760" cy="402336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7178040" y="11155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23760" y="15544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51192" y="1984248"/>
            <a:ext cx="137160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87,144 rows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variables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→ Power BI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3157669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Cancellation Risk Score (0–100)</a:t>
            </a:r>
            <a:endParaRPr lang="en-US" sz="13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96125"/>
              </p:ext>
            </p:extLst>
          </p:nvPr>
        </p:nvGraphicFramePr>
        <p:xfrm>
          <a:off x="365760" y="3508131"/>
          <a:ext cx="8412480" cy="146937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2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Factor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Deposit (deposit_type)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single discriminator — no financial commitment at booking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 &gt; 90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booking window correlates with higher cancellation probability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Cancellations &gt;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behaviour is the strongest individual-level predictor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TA/TO Distribution Channel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OTA/TA bookings cancel at 38–42% vs 8–15% for direct bookings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Special Requests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engagement signals low switching cost — less invested in the stay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POWER BI DASHBOARD — 4 PAGES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dashboard. Four pages. Four audiences.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60520" cy="1783080"/>
          </a:xfrm>
          <a:prstGeom prst="rect">
            <a:avLst/>
          </a:prstGeom>
          <a:solidFill>
            <a:srgbClr val="1A2F5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36576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Executive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55448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cards: total reservations, cancellation rate, average ADR, revenue lost, average lead time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monthly trend chart (reservations vs cancellation rate)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 vs Resort Hotel comparison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countries by reservation volume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60520" cy="1783080"/>
          </a:xfrm>
          <a:prstGeom prst="rect">
            <a:avLst/>
          </a:prstGeom>
          <a:solidFill>
            <a:srgbClr val="1A2F5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365760"/>
          </a:xfrm>
          <a:prstGeom prst="rect">
            <a:avLst/>
          </a:prstGeom>
          <a:solidFill>
            <a:srgbClr val="5B4A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00600" y="1143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Cancellation Deep Dive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18888" y="155448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by market segment (Online TA: 38–42%)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by lead time category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by deposit type &amp; customer type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heat map: market segment × lead time (52% peak for Online TA + Very Long)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4160520" cy="1783080"/>
          </a:xfrm>
          <a:prstGeom prst="rect">
            <a:avLst/>
          </a:prstGeom>
          <a:solidFill>
            <a:srgbClr val="1A2F5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160520" cy="3657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65760" y="3063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 Revenue &amp; Seasonality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347472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(peak above EUR 2.5M in August 2016)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lost to cancellations (&gt;EUR 1M in peak months)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comparison: City Hotel EUR 110 vs Resort Hotel EUR 99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by season (Summer nearly 30,000 bookings)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3063240"/>
            <a:ext cx="4160520" cy="1783080"/>
          </a:xfrm>
          <a:prstGeom prst="rect">
            <a:avLst/>
          </a:prstGeom>
          <a:solidFill>
            <a:srgbClr val="1A2F5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709160" y="3063240"/>
            <a:ext cx="4160520" cy="3657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00600" y="3063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 Risk Scoring &amp; Recommendations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8888" y="347472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by risk category (55.9% High or Very High Risk)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by risk category (High Risk: ~EUR 6M)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+ Very High Risk together: over EUR 9M of total EUR 11.4M lost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operational recommendations for revenue management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pages: slicers for Hotel Type · Arrival Year · Market Segment · Country  |  Cross-filtering enabled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KEY FINDINGS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1605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60520" cy="347472"/>
          </a:xfrm>
          <a:prstGeom prst="rect">
            <a:avLst/>
          </a:prstGeom>
          <a:solidFill>
            <a:srgbClr val="2E5A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Drivers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4041648" cy="530352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105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38–42% cancellation rate  —  vs 8–15% for direct bookings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176272"/>
            <a:ext cx="4041648" cy="530352"/>
          </a:xfrm>
          <a:prstGeom prst="rect">
            <a:avLst/>
          </a:prstGeom>
          <a:solidFill>
            <a:srgbClr val="F4F8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11480" y="22128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Long lead time (&gt;6 months)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cancellation rate  —  highest risk combination with Online 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798064"/>
            <a:ext cx="4041648" cy="530352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11480" y="28346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Deposit bookings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0540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~41% cancellation rate  —  vs &lt;1% for Non Refund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419856"/>
            <a:ext cx="4041648" cy="530352"/>
          </a:xfrm>
          <a:prstGeom prst="rect">
            <a:avLst/>
          </a:prstGeom>
          <a:solidFill>
            <a:srgbClr val="F4F8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11480" y="34564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6758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30.10%  —  vs Resort Hotel 23.46%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4041648"/>
            <a:ext cx="4041648" cy="530352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11480" y="407822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average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2976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27.52%  —  after cleaning (37.04% raw)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115568"/>
            <a:ext cx="41605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4709160" y="1115568"/>
            <a:ext cx="4160520" cy="347472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800600" y="11155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Risk Findings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554480"/>
            <a:ext cx="4041648" cy="530352"/>
          </a:xfrm>
          <a:prstGeom prst="rect">
            <a:avLst/>
          </a:prstGeom>
          <a:solidFill>
            <a:srgbClr val="FDF0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846320" y="155448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lost: EUR 11,427,753 (33.3% of EUR 34,312,805 potential revenue)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176272"/>
            <a:ext cx="4041648" cy="530352"/>
          </a:xfrm>
          <a:prstGeom prst="rect">
            <a:avLst/>
          </a:prstGeom>
          <a:solidFill>
            <a:srgbClr val="F4F8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846320" y="217627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exceeds EUR 1M/month in peak summer months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798064"/>
            <a:ext cx="4041648" cy="530352"/>
          </a:xfrm>
          <a:prstGeom prst="rect">
            <a:avLst/>
          </a:prstGeom>
          <a:solidFill>
            <a:srgbClr val="FDF0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846320" y="2798064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 ADR: EUR 110  vs  Resort Hotel ADR: EUR 99 — explains City Hotel's disproportionate revenue loss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419856"/>
            <a:ext cx="4041648" cy="530352"/>
          </a:xfrm>
          <a:prstGeom prst="rect">
            <a:avLst/>
          </a:prstGeom>
          <a:solidFill>
            <a:srgbClr val="F4F8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46320" y="341985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Summer: nearly 30,000 bookings — almost double Winter volume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4041648"/>
            <a:ext cx="4041648" cy="530352"/>
          </a:xfrm>
          <a:prstGeom prst="rect">
            <a:avLst/>
          </a:prstGeom>
          <a:solidFill>
            <a:srgbClr val="FDF0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846320" y="4041648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+ Very High Risk bookings = over EUR 9M of the total EUR 11.4M lost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6817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sourced directly from the project document and ETL execution log.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OPERATIONAL RECOMMENDATIONS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insight to action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60520" cy="1115568"/>
          </a:xfrm>
          <a:prstGeom prst="rect">
            <a:avLst/>
          </a:prstGeom>
          <a:solidFill>
            <a:srgbClr val="1A2F5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11480" cy="1115568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411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1521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Policy Reform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149047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 deposit for Online TA bookings with lead time &gt; 3 months. This combination produces the highest cancellation rates in the portfolio.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40864"/>
            <a:ext cx="4160520" cy="1115568"/>
          </a:xfrm>
          <a:prstGeom prst="rect">
            <a:avLst/>
          </a:prstGeom>
          <a:solidFill>
            <a:srgbClr val="1A2F5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74320" y="2340864"/>
            <a:ext cx="411480" cy="111556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74320" y="2340864"/>
            <a:ext cx="411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4140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Re-confirmation Campaigns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275234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High and Very High Risk bookings ~30 days before arrival to identify likely cancellations and re-sell capacity in time.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602736"/>
            <a:ext cx="4160520" cy="1115568"/>
          </a:xfrm>
          <a:prstGeom prst="rect">
            <a:avLst/>
          </a:prstGeom>
          <a:solidFill>
            <a:srgbClr val="1A2F5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74320" y="3602736"/>
            <a:ext cx="411480" cy="1115568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74320" y="3602736"/>
            <a:ext cx="411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6758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Overbooking Calibration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401421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overbooking buffer dynamically based on monthly risk distribution rather than a fixed historical average. Summer peaks need a higher buffer.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1078992"/>
            <a:ext cx="4160520" cy="1051560"/>
          </a:xfrm>
          <a:prstGeom prst="rect">
            <a:avLst/>
          </a:prstGeom>
          <a:solidFill>
            <a:srgbClr val="1A2F5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709160" y="1078992"/>
            <a:ext cx="411480" cy="10515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709160" y="1078992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11521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Channel Development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12080" y="1490472"/>
            <a:ext cx="35661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incentives to shift bookings from OTA to direct. Direct bookings cancel at below 15% compared to 40% for Online TA.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340864"/>
            <a:ext cx="4160520" cy="1051560"/>
          </a:xfrm>
          <a:prstGeom prst="rect">
            <a:avLst/>
          </a:prstGeom>
          <a:solidFill>
            <a:srgbClr val="1A2F5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709160" y="2340864"/>
            <a:ext cx="411480" cy="1051560"/>
          </a:xfrm>
          <a:prstGeom prst="rect">
            <a:avLst/>
          </a:prstGeom>
          <a:solidFill>
            <a:srgbClr val="5B4A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709160" y="2340864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24140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Recalibration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12080" y="2752344"/>
            <a:ext cx="35661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domain-knowledge weights with statistically derived feature importances (logistic regression or gradient boosting) for individual-level probability estimates.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943600" y="1371600"/>
            <a:ext cx="4114800" cy="4114800"/>
          </a:xfrm>
          <a:prstGeom prst="ellipse">
            <a:avLst/>
          </a:prstGeom>
          <a:solidFill>
            <a:srgbClr val="2E5A9C">
              <a:alpha val="3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required to solve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cancellation problem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exists.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analytical — not informational.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5943600" cy="1829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87,144 validated reservations  ·  EUR 11,427,753 revenue at risk  ·  4-page Power BI dashboard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github.com/juangalvez7077/Hotel-Bookings-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UFV Madrid  ·  Corporate Intelligence  ·  2025–2026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994</Words>
  <Application>Microsoft Office PowerPoint</Application>
  <PresentationFormat>Presentación en pantalla (16:9)</PresentationFormat>
  <Paragraphs>167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 Cancellation Prevention</dc:title>
  <dc:subject>PptxGenJS Presentation</dc:subject>
  <dc:creator>PptxGenJS</dc:creator>
  <cp:lastModifiedBy>Juan Lantero de la Osa</cp:lastModifiedBy>
  <cp:revision>2</cp:revision>
  <dcterms:created xsi:type="dcterms:W3CDTF">2026-05-10T10:00:45Z</dcterms:created>
  <dcterms:modified xsi:type="dcterms:W3CDTF">2026-05-10T10:15:30Z</dcterms:modified>
</cp:coreProperties>
</file>